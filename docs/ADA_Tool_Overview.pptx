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12a66e2e-b912-2df7-58a4-c35e8df852af}">
          <p14:sldIdLst>
            <p14:sldId id="256"/>
          </p14:sldIdLst>
        </p14:section>
        <p14:section name="The tool" id="{1c66ae90-7f0b-5065-55a2-a2f885074638}">
          <p14:sldIdLst>
            <p14:sldId id="257"/>
            <p14:sldId id="258"/>
            <p14:sldId id="259"/>
          </p14:sldIdLst>
        </p14:section>
        <p14:section name="Auto-Fix and CI" id="{8bad88f4-9939-07e5-10d5-a4f9c77ab048}">
          <p14:sldIdLst>
            <p14:sldId id="260"/>
            <p14:sldId id="261"/>
          </p14:sldIdLst>
        </p14:section>
        <p14:section name="Results and next" id="{294564ad-d504-9bb7-e8b5-cee04d451c11}">
          <p14:sldIdLst>
            <p14:sldId id="262"/>
            <p14:sldId id="263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0F3D3E"/>
                </a:solidFill>
                <a:latin typeface="+mn-lt"/>
              </a:defRPr>
            </a:pPr>
            <a:r>
              <a:rPr sz="1400" b="0" i="0" u="none" strike="noStrike">
                <a:solidFill>
                  <a:srgbClr val="0F3D3E"/>
                </a:solidFill>
                <a:latin typeface="+mn-lt"/>
              </a:rPr>
              <a:t>Violated rules by impact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Rules</c:v>
                </c:pt>
              </c:strCache>
            </c:strRef>
          </c:tx>
          <c:spPr>
            <a:solidFill>
              <a:srgbClr val="DC262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12201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DC262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EA580C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Critical</c:v>
                  </c:pt>
                  <c:pt idx="1">
                    <c:v>Serious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</c:v>
                </c:pt>
                <c:pt idx="1">
                  <c:v>11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12201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12201F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tool finds accessibility problems on websites, proposes code fixes as pull requests, and re-scans to prove the fix. The three numbers come from our live GitHub Action pilot, covered on slide 7.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Three jobs: find, fix, prove. The same backend serves the web app, a Chrome extension, CI pipelines through ada_ API keys, and report delivery to Slack, Teams and email.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Request path: client to Flask API, job queued, a worker runs Playwright with axe-core, results land in MSSQL. If Redis is not configured in development, scans fall back to an in-process thread pool.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page scan is one URL. A crawl runs the same axe scan across the site and tracks regressions. Assistive Testing covers things automated axe rules cannot judge, such as heading order and keyboard 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pipeline only pushes a branch after the patch validates, tests pass or were already failing, and a re-scan of the built preview shows the violation gone. Safeguards added during the pilot: duplicate detection by patch signature, a truncation guard for whole-file AI rewrites, and an Assistive Testing label.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workflow is accessibility-scan.yml and the logic is in ada-scan.js in the test repo. It scans the deployed GitHub Pages site and reuses existing backend endpoints only. It exits non-zero while violations remain, so the check stays red on the seeded test app by design.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Numbers are from the live run on ADA-AutoFix-Test-GitHub-2. 17 rules and 80 elements were found; 16 of 17 rules got a fix PR (autocomplete-valid has no built-in fix). Four more PRs came from Assistive Testing issues. A second run right after opened no new PRs because the duplicate check reused the open ones.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 side is shipped and verified in the app. Right side is the honest list of what is missing before clients can rely on it: preview-based scanning for CI, a hosted backend, grouped crawl results, and a plan split for Assistive Testing.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5544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62179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2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_LIGH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 txBox="1"/>
          <p:nvPr/>
        </p:nvSpPr>
        <p:spPr>
          <a:xfrm>
            <a:off x="548640" y="64008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accent5"/>
                </a:solidFill>
              </a:rPr>
              <a:t>ADA Accessibility Intelligence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3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1828800"/>
            <a:ext cx="65836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800" b="1" dirty="0">
                <a:solidFill>
                  <a:schemeClr val="bg1"/>
                </a:solidFill>
              </a:rPr>
              <a:t>ADA Accessibility Intelligence</a:t>
            </a:r>
            <a:endParaRPr lang="en-US" sz="4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3520440"/>
            <a:ext cx="6217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2"/>
                </a:solidFill>
              </a:rPr>
              <a:t>Scan. Fix. Prove — from the browser to every pull request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594360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2"/>
                </a:solidFill>
              </a:rPr>
              <a:t>Tool overview and GitHub Action pilot  ·  October 2026</a:t>
            </a:r>
            <a:endParaRPr lang="en-US" sz="1400" dirty="0"/>
          </a:p>
        </p:txBody>
      </p:sp>
      <p:sp>
        <p:nvSpPr>
          <p:cNvPr id="5" name="Hero badge"/>
          <p:cNvSpPr/>
          <p:nvPr/>
        </p:nvSpPr>
        <p:spPr>
          <a:xfrm>
            <a:off x="7955280" y="1097280"/>
            <a:ext cx="3474720" cy="34747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6" name="Hero icon" descr="Accessibility symbo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32520" y="1874520"/>
            <a:ext cx="1920240" cy="1920240"/>
          </a:xfrm>
          <a:prstGeom prst="rect">
            <a:avLst/>
          </a:prstGeom>
        </p:spPr>
      </p:pic>
      <p:sp>
        <p:nvSpPr>
          <p:cNvPr id="7" name="Stat chip 1"/>
          <p:cNvSpPr/>
          <p:nvPr/>
        </p:nvSpPr>
        <p:spPr>
          <a:xfrm>
            <a:off x="7589520" y="4892040"/>
            <a:ext cx="137160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589520" y="4983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17</a:t>
            </a:r>
            <a:endParaRPr lang="en-US" sz="3200" dirty="0"/>
          </a:p>
        </p:txBody>
      </p:sp>
      <p:sp>
        <p:nvSpPr>
          <p:cNvPr id="9" name="Text 6"/>
          <p:cNvSpPr txBox="1"/>
          <p:nvPr/>
        </p:nvSpPr>
        <p:spPr>
          <a:xfrm>
            <a:off x="7680960" y="5577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rules found on the test site</a:t>
            </a:r>
            <a:endParaRPr lang="en-US" sz="1200" dirty="0"/>
          </a:p>
        </p:txBody>
      </p:sp>
      <p:sp>
        <p:nvSpPr>
          <p:cNvPr id="10" name="Stat chip 2"/>
          <p:cNvSpPr/>
          <p:nvPr/>
        </p:nvSpPr>
        <p:spPr>
          <a:xfrm>
            <a:off x="9052560" y="4892040"/>
            <a:ext cx="137160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052560" y="4983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16</a:t>
            </a:r>
            <a:endParaRPr lang="en-US" sz="3200" dirty="0"/>
          </a:p>
        </p:txBody>
      </p:sp>
      <p:sp>
        <p:nvSpPr>
          <p:cNvPr id="12" name="Text 9"/>
          <p:cNvSpPr txBox="1"/>
          <p:nvPr/>
        </p:nvSpPr>
        <p:spPr>
          <a:xfrm>
            <a:off x="9144000" y="5577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got an Auto-Fix pull request</a:t>
            </a:r>
            <a:endParaRPr lang="en-US" sz="1200" dirty="0"/>
          </a:p>
        </p:txBody>
      </p:sp>
      <p:sp>
        <p:nvSpPr>
          <p:cNvPr id="13" name="Stat chip 3"/>
          <p:cNvSpPr/>
          <p:nvPr/>
        </p:nvSpPr>
        <p:spPr>
          <a:xfrm>
            <a:off x="10515600" y="4892040"/>
            <a:ext cx="1371600" cy="1325880"/>
          </a:xfrm>
          <a:prstGeom prst="roundRect">
            <a:avLst>
              <a:gd name="adj" fmla="val 6897"/>
            </a:avLst>
          </a:prstGeom>
          <a:solidFill>
            <a:schemeClr val="tx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10515600" y="4983480"/>
            <a:ext cx="1371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3200" b="1" dirty="0">
                <a:solidFill>
                  <a:schemeClr val="accent2"/>
                </a:solidFill>
              </a:rPr>
              <a:t>0</a:t>
            </a:r>
            <a:endParaRPr lang="en-US" sz="3200" dirty="0"/>
          </a:p>
        </p:txBody>
      </p:sp>
      <p:sp>
        <p:nvSpPr>
          <p:cNvPr id="15" name="Text 12"/>
          <p:cNvSpPr txBox="1"/>
          <p:nvPr/>
        </p:nvSpPr>
        <p:spPr>
          <a:xfrm>
            <a:off x="10607040" y="5577840"/>
            <a:ext cx="1188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duplicate PRs on a re-run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What the tool does</a:t>
            </a:r>
            <a:endParaRPr lang="en-US" sz="3600" dirty="0"/>
          </a:p>
        </p:txBody>
      </p:sp>
      <p:sp>
        <p:nvSpPr>
          <p:cNvPr id="3" name="Pillar card Find"/>
          <p:cNvSpPr/>
          <p:nvPr/>
        </p:nvSpPr>
        <p:spPr>
          <a:xfrm>
            <a:off x="548640" y="1508760"/>
            <a:ext cx="356616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Find badge"/>
          <p:cNvSpPr/>
          <p:nvPr/>
        </p:nvSpPr>
        <p:spPr>
          <a:xfrm>
            <a:off x="822960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Find icon" descr="Find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2815" y="1947215"/>
            <a:ext cx="357530" cy="35753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Find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axe-core scans against WCAG 2.0, 2.1 and 2.2 (A and AA). Results show impact, WCAG level and a separate “needs manual review” list.</a:t>
            </a:r>
            <a:endParaRPr lang="en-US" sz="1700" dirty="0"/>
          </a:p>
        </p:txBody>
      </p:sp>
      <p:sp>
        <p:nvSpPr>
          <p:cNvPr id="8" name="Pillar card Fix"/>
          <p:cNvSpPr/>
          <p:nvPr/>
        </p:nvSpPr>
        <p:spPr>
          <a:xfrm>
            <a:off x="4311396" y="1508760"/>
            <a:ext cx="356616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Fix badge"/>
          <p:cNvSpPr/>
          <p:nvPr/>
        </p:nvSpPr>
        <p:spPr>
          <a:xfrm>
            <a:off x="4585716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0" name="Fix icon" descr="Fix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5571" y="1947215"/>
            <a:ext cx="357530" cy="357530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4585716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Fix</a:t>
            </a:r>
            <a:endParaRPr lang="en-US" sz="2400" dirty="0"/>
          </a:p>
        </p:txBody>
      </p:sp>
      <p:sp>
        <p:nvSpPr>
          <p:cNvPr id="12" name="Text 8"/>
          <p:cNvSpPr txBox="1"/>
          <p:nvPr/>
        </p:nvSpPr>
        <p:spPr>
          <a:xfrm>
            <a:off x="4585716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Locates the source file, patches it with built-in rules or AI, then opens a pull request on GitHub, GitLab, Bitbucket or Azure DevOps.</a:t>
            </a:r>
            <a:endParaRPr lang="en-US" sz="1700" dirty="0"/>
          </a:p>
        </p:txBody>
      </p:sp>
      <p:sp>
        <p:nvSpPr>
          <p:cNvPr id="13" name="Pillar card Prove"/>
          <p:cNvSpPr/>
          <p:nvPr/>
        </p:nvSpPr>
        <p:spPr>
          <a:xfrm>
            <a:off x="8074152" y="1508760"/>
            <a:ext cx="356616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4" name="Prove badge"/>
          <p:cNvSpPr/>
          <p:nvPr/>
        </p:nvSpPr>
        <p:spPr>
          <a:xfrm>
            <a:off x="8348472" y="1737360"/>
            <a:ext cx="777240" cy="7772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5" name="Prove icon" descr="Prov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327" y="1947215"/>
            <a:ext cx="357530" cy="35753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8348472" y="26974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Prove</a:t>
            </a:r>
            <a:endParaRPr lang="en-US" sz="2400" dirty="0"/>
          </a:p>
        </p:txBody>
      </p:sp>
      <p:sp>
        <p:nvSpPr>
          <p:cNvPr id="17" name="Text 12"/>
          <p:cNvSpPr txBox="1"/>
          <p:nvPr/>
        </p:nvSpPr>
        <p:spPr>
          <a:xfrm>
            <a:off x="8348472" y="3200400"/>
            <a:ext cx="3017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chemeClr val="tx1"/>
                </a:solidFill>
              </a:rPr>
              <a:t>Re-scans a built preview of the fix before it is pushed. Scan History, trends and client health show progress over time.</a:t>
            </a:r>
            <a:endParaRPr lang="en-US" sz="170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50292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Where it plugs in</a:t>
            </a:r>
            <a:endParaRPr lang="en-US" sz="1800" dirty="0"/>
          </a:p>
        </p:txBody>
      </p:sp>
      <p:sp>
        <p:nvSpPr>
          <p:cNvPr id="19" name="Web app badge"/>
          <p:cNvSpPr/>
          <p:nvPr/>
        </p:nvSpPr>
        <p:spPr>
          <a:xfrm>
            <a:off x="548640" y="5486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0" name="Web app icon" descr="Web app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6773" y="5634533"/>
            <a:ext cx="252374" cy="252374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34440" y="5486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Web app</a:t>
            </a:r>
            <a:endParaRPr lang="en-US" sz="1600" dirty="0"/>
          </a:p>
        </p:txBody>
      </p:sp>
      <p:sp>
        <p:nvSpPr>
          <p:cNvPr id="22" name="Chrome extension badge"/>
          <p:cNvSpPr/>
          <p:nvPr/>
        </p:nvSpPr>
        <p:spPr>
          <a:xfrm>
            <a:off x="3364992" y="5486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Chrome extension icon" descr="Chrome extensi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3125" y="5634533"/>
            <a:ext cx="252374" cy="252374"/>
          </a:xfrm>
          <a:prstGeom prst="rect">
            <a:avLst/>
          </a:prstGeom>
        </p:spPr>
      </p:pic>
      <p:sp>
        <p:nvSpPr>
          <p:cNvPr id="24" name="Text 17"/>
          <p:cNvSpPr txBox="1"/>
          <p:nvPr/>
        </p:nvSpPr>
        <p:spPr>
          <a:xfrm>
            <a:off x="4050792" y="5486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Chrome extension</a:t>
            </a:r>
            <a:endParaRPr lang="en-US" sz="1600" dirty="0"/>
          </a:p>
        </p:txBody>
      </p:sp>
      <p:sp>
        <p:nvSpPr>
          <p:cNvPr id="25" name="CI via API keys badge"/>
          <p:cNvSpPr/>
          <p:nvPr/>
        </p:nvSpPr>
        <p:spPr>
          <a:xfrm>
            <a:off x="6181344" y="5486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6" name="CI via API keys icon" descr="CI via API keys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29477" y="5634533"/>
            <a:ext cx="252374" cy="252374"/>
          </a:xfrm>
          <a:prstGeom prst="rect">
            <a:avLst/>
          </a:prstGeom>
        </p:spPr>
      </p:pic>
      <p:sp>
        <p:nvSpPr>
          <p:cNvPr id="27" name="Text 19"/>
          <p:cNvSpPr txBox="1"/>
          <p:nvPr/>
        </p:nvSpPr>
        <p:spPr>
          <a:xfrm>
            <a:off x="6867144" y="5486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CI via API keys</a:t>
            </a:r>
            <a:endParaRPr lang="en-US" sz="1600" dirty="0"/>
          </a:p>
        </p:txBody>
      </p:sp>
      <p:sp>
        <p:nvSpPr>
          <p:cNvPr id="28" name="Slack, Teams, email badge"/>
          <p:cNvSpPr/>
          <p:nvPr/>
        </p:nvSpPr>
        <p:spPr>
          <a:xfrm>
            <a:off x="8997696" y="548640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Slack, Teams, email icon" descr="Slack, Teams, email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145829" y="5634533"/>
            <a:ext cx="252374" cy="252374"/>
          </a:xfrm>
          <a:prstGeom prst="rect">
            <a:avLst/>
          </a:prstGeom>
        </p:spPr>
      </p:pic>
      <p:sp>
        <p:nvSpPr>
          <p:cNvPr id="30" name="Text 21"/>
          <p:cNvSpPr txBox="1"/>
          <p:nvPr/>
        </p:nvSpPr>
        <p:spPr>
          <a:xfrm>
            <a:off x="9683496" y="5486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Slack, Teams, email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How it is built</a:t>
            </a:r>
            <a:endParaRPr lang="en-US" sz="3600" dirty="0"/>
          </a:p>
        </p:txBody>
      </p:sp>
      <p:sp>
        <p:nvSpPr>
          <p:cNvPr id="3" name="Architecture box Clients"/>
          <p:cNvSpPr/>
          <p:nvPr/>
        </p:nvSpPr>
        <p:spPr>
          <a:xfrm>
            <a:off x="548640" y="1554480"/>
            <a:ext cx="192024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Clients badge"/>
          <p:cNvSpPr/>
          <p:nvPr/>
        </p:nvSpPr>
        <p:spPr>
          <a:xfrm>
            <a:off x="11887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Clients icon" descr="Clien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61542" y="19101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858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Clients</a:t>
            </a:r>
            <a:endParaRPr lang="en-US" sz="18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React web app, Chrome extension, GitHub Action</a:t>
            </a:r>
            <a:endParaRPr lang="en-US" sz="1400" dirty="0"/>
          </a:p>
        </p:txBody>
      </p:sp>
      <p:sp>
        <p:nvSpPr>
          <p:cNvPr id="8" name="Flow arrow 1"/>
          <p:cNvSpPr/>
          <p:nvPr/>
        </p:nvSpPr>
        <p:spPr>
          <a:xfrm>
            <a:off x="2487168" y="280720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Architecture box Flask API"/>
          <p:cNvSpPr/>
          <p:nvPr/>
        </p:nvSpPr>
        <p:spPr>
          <a:xfrm>
            <a:off x="2834640" y="1554480"/>
            <a:ext cx="192024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Flask API badge"/>
          <p:cNvSpPr/>
          <p:nvPr/>
        </p:nvSpPr>
        <p:spPr>
          <a:xfrm>
            <a:off x="34747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Flask API icon" descr="Flask API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7542" y="1910182"/>
            <a:ext cx="294437" cy="29443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29718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Flask API</a:t>
            </a:r>
            <a:endParaRPr lang="en-US" sz="1800" dirty="0"/>
          </a:p>
        </p:txBody>
      </p:sp>
      <p:sp>
        <p:nvSpPr>
          <p:cNvPr id="13" name="Text 9"/>
          <p:cNvSpPr txBox="1"/>
          <p:nvPr/>
        </p:nvSpPr>
        <p:spPr>
          <a:xfrm>
            <a:off x="29718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About 75 routes. JWT login or ada_ API keys</a:t>
            </a:r>
            <a:endParaRPr lang="en-US" sz="1400" dirty="0"/>
          </a:p>
        </p:txBody>
      </p:sp>
      <p:sp>
        <p:nvSpPr>
          <p:cNvPr id="14" name="Flow arrow 2"/>
          <p:cNvSpPr/>
          <p:nvPr/>
        </p:nvSpPr>
        <p:spPr>
          <a:xfrm>
            <a:off x="4773168" y="280720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rchitecture box Job queue"/>
          <p:cNvSpPr/>
          <p:nvPr/>
        </p:nvSpPr>
        <p:spPr>
          <a:xfrm>
            <a:off x="5120640" y="1554480"/>
            <a:ext cx="192024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Job queue badge"/>
          <p:cNvSpPr/>
          <p:nvPr/>
        </p:nvSpPr>
        <p:spPr>
          <a:xfrm>
            <a:off x="57607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Job queue icon" descr="Job queu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3542" y="1910182"/>
            <a:ext cx="294437" cy="294437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52578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Job queue</a:t>
            </a:r>
            <a:endParaRPr lang="en-US" sz="1800" dirty="0"/>
          </a:p>
        </p:txBody>
      </p:sp>
      <p:sp>
        <p:nvSpPr>
          <p:cNvPr id="19" name="Text 14"/>
          <p:cNvSpPr txBox="1"/>
          <p:nvPr/>
        </p:nvSpPr>
        <p:spPr>
          <a:xfrm>
            <a:off x="52578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Redis and RQ, with an in-process fallback for dev</a:t>
            </a:r>
            <a:endParaRPr lang="en-US" sz="1400" dirty="0"/>
          </a:p>
        </p:txBody>
      </p:sp>
      <p:sp>
        <p:nvSpPr>
          <p:cNvPr id="20" name="Flow arrow 3"/>
          <p:cNvSpPr/>
          <p:nvPr/>
        </p:nvSpPr>
        <p:spPr>
          <a:xfrm>
            <a:off x="7059168" y="280720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rchitecture box Scan workers"/>
          <p:cNvSpPr/>
          <p:nvPr/>
        </p:nvSpPr>
        <p:spPr>
          <a:xfrm>
            <a:off x="7406640" y="1554480"/>
            <a:ext cx="192024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Scan workers badge"/>
          <p:cNvSpPr/>
          <p:nvPr/>
        </p:nvSpPr>
        <p:spPr>
          <a:xfrm>
            <a:off x="80467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3" name="Scan workers icon" descr="Scan work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19542" y="1910182"/>
            <a:ext cx="294437" cy="294437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5438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Scan workers</a:t>
            </a:r>
            <a:endParaRPr lang="en-US" sz="1800" dirty="0"/>
          </a:p>
        </p:txBody>
      </p:sp>
      <p:sp>
        <p:nvSpPr>
          <p:cNvPr id="25" name="Text 19"/>
          <p:cNvSpPr txBox="1"/>
          <p:nvPr/>
        </p:nvSpPr>
        <p:spPr>
          <a:xfrm>
            <a:off x="75438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Playwright browser plus axe-core</a:t>
            </a:r>
            <a:endParaRPr lang="en-US" sz="1400" dirty="0"/>
          </a:p>
        </p:txBody>
      </p:sp>
      <p:sp>
        <p:nvSpPr>
          <p:cNvPr id="26" name="Flow arrow 4"/>
          <p:cNvSpPr/>
          <p:nvPr/>
        </p:nvSpPr>
        <p:spPr>
          <a:xfrm>
            <a:off x="9345168" y="2807208"/>
            <a:ext cx="329184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Architecture box MSSQL"/>
          <p:cNvSpPr/>
          <p:nvPr/>
        </p:nvSpPr>
        <p:spPr>
          <a:xfrm>
            <a:off x="9692640" y="1554480"/>
            <a:ext cx="1920240" cy="25146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MSSQL badge"/>
          <p:cNvSpPr/>
          <p:nvPr/>
        </p:nvSpPr>
        <p:spPr>
          <a:xfrm>
            <a:off x="1033272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29" name="MSSQL icon" descr="MSSQ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05542" y="1910182"/>
            <a:ext cx="294437" cy="294437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9829800" y="251460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MSSQL</a:t>
            </a:r>
            <a:endParaRPr lang="en-US" sz="1800" dirty="0"/>
          </a:p>
        </p:txBody>
      </p:sp>
      <p:sp>
        <p:nvSpPr>
          <p:cNvPr id="31" name="Text 24"/>
          <p:cNvSpPr txBox="1"/>
          <p:nvPr/>
        </p:nvSpPr>
        <p:spPr>
          <a:xfrm>
            <a:off x="9829800" y="2926080"/>
            <a:ext cx="16459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Scans, crawls, fixes, repo links, alerts</a:t>
            </a:r>
            <a:endParaRPr lang="en-US" sz="1400" dirty="0"/>
          </a:p>
        </p:txBody>
      </p:sp>
      <p:sp>
        <p:nvSpPr>
          <p:cNvPr id="32" name="Text 25"/>
          <p:cNvSpPr txBox="1"/>
          <p:nvPr/>
        </p:nvSpPr>
        <p:spPr>
          <a:xfrm>
            <a:off x="548640" y="44348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Background services in the same app</a:t>
            </a:r>
            <a:endParaRPr lang="en-US" sz="1800" dirty="0"/>
          </a:p>
        </p:txBody>
      </p:sp>
      <p:sp>
        <p:nvSpPr>
          <p:cNvPr id="33" name="Service pill Auto-Fix"/>
          <p:cNvSpPr/>
          <p:nvPr/>
        </p:nvSpPr>
        <p:spPr>
          <a:xfrm>
            <a:off x="548640" y="4937760"/>
            <a:ext cx="17373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548640" y="49377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Auto-Fix</a:t>
            </a:r>
            <a:endParaRPr lang="en-US" sz="1500" dirty="0"/>
          </a:p>
        </p:txBody>
      </p:sp>
      <p:sp>
        <p:nvSpPr>
          <p:cNvPr id="35" name="Service pill Crawl scheduler"/>
          <p:cNvSpPr/>
          <p:nvPr/>
        </p:nvSpPr>
        <p:spPr>
          <a:xfrm>
            <a:off x="2468880" y="4937760"/>
            <a:ext cx="228600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29"/>
          <p:cNvSpPr txBox="1"/>
          <p:nvPr/>
        </p:nvSpPr>
        <p:spPr>
          <a:xfrm>
            <a:off x="2468880" y="49377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Crawl scheduler</a:t>
            </a:r>
            <a:endParaRPr lang="en-US" sz="1500" dirty="0"/>
          </a:p>
        </p:txBody>
      </p:sp>
      <p:sp>
        <p:nvSpPr>
          <p:cNvPr id="37" name="Service pill Alerts"/>
          <p:cNvSpPr/>
          <p:nvPr/>
        </p:nvSpPr>
        <p:spPr>
          <a:xfrm>
            <a:off x="4937760" y="4937760"/>
            <a:ext cx="146304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4937760" y="4937760"/>
            <a:ext cx="1463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Alerts</a:t>
            </a:r>
            <a:endParaRPr lang="en-US" sz="1500" dirty="0"/>
          </a:p>
        </p:txBody>
      </p:sp>
      <p:sp>
        <p:nvSpPr>
          <p:cNvPr id="39" name="Service pill AI summaries"/>
          <p:cNvSpPr/>
          <p:nvPr/>
        </p:nvSpPr>
        <p:spPr>
          <a:xfrm>
            <a:off x="6583680" y="4937760"/>
            <a:ext cx="201168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583680" y="49377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AI summaries</a:t>
            </a:r>
            <a:endParaRPr lang="en-US" sz="1500" dirty="0"/>
          </a:p>
        </p:txBody>
      </p:sp>
      <p:sp>
        <p:nvSpPr>
          <p:cNvPr id="41" name="Service pill PDF, email, Slack, Teams"/>
          <p:cNvSpPr/>
          <p:nvPr/>
        </p:nvSpPr>
        <p:spPr>
          <a:xfrm>
            <a:off x="8778240" y="4937760"/>
            <a:ext cx="3108960" cy="54864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42" name="Text 35"/>
          <p:cNvSpPr txBox="1"/>
          <p:nvPr/>
        </p:nvSpPr>
        <p:spPr>
          <a:xfrm>
            <a:off x="8778240" y="493776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PDF, email, Slack, Teams</a:t>
            </a:r>
            <a:endParaRPr lang="en-US" sz="1500" dirty="0"/>
          </a:p>
        </p:txBody>
      </p:sp>
      <p:sp>
        <p:nvSpPr>
          <p:cNvPr id="43" name="Text 36"/>
          <p:cNvSpPr txBox="1"/>
          <p:nvPr/>
        </p:nvSpPr>
        <p:spPr>
          <a:xfrm>
            <a:off x="548640" y="57607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accent5"/>
                </a:solidFill>
              </a:rPr>
              <a:t>Everything runs from one Flask app, so a scan started from the browser, the extension or CI takes the same path.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Three ways to scan</a:t>
            </a:r>
            <a:endParaRPr lang="en-US" sz="3600" dirty="0"/>
          </a:p>
        </p:txBody>
      </p:sp>
      <p:sp>
        <p:nvSpPr>
          <p:cNvPr id="3" name="Scan mode card Page scan"/>
          <p:cNvSpPr/>
          <p:nvPr/>
        </p:nvSpPr>
        <p:spPr>
          <a:xfrm>
            <a:off x="548640" y="1508760"/>
            <a:ext cx="3566160" cy="4572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Page scan badge"/>
          <p:cNvSpPr/>
          <p:nvPr/>
        </p:nvSpPr>
        <p:spPr>
          <a:xfrm>
            <a:off x="822960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Page scan icon" descr="Page sc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0470" y="1934870"/>
            <a:ext cx="336499" cy="33649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737360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Page scan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7373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One URL, one result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Score, issues by rule, impact and WCAG tags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Screenshots of the first 10 violations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Axe “needs review” results listed apart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Auto-Fix button on each issue</a:t>
            </a:r>
            <a:endParaRPr lang="en-US" sz="1700" dirty="0"/>
          </a:p>
        </p:txBody>
      </p:sp>
      <p:sp>
        <p:nvSpPr>
          <p:cNvPr id="9" name="Scan mode card Site crawl"/>
          <p:cNvSpPr/>
          <p:nvPr/>
        </p:nvSpPr>
        <p:spPr>
          <a:xfrm>
            <a:off x="4311396" y="1508760"/>
            <a:ext cx="3566160" cy="4572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Site crawl badge"/>
          <p:cNvSpPr/>
          <p:nvPr/>
        </p:nvSpPr>
        <p:spPr>
          <a:xfrm>
            <a:off x="4585716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1" name="Site crawl icon" descr="Site crawl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3226" y="1934870"/>
            <a:ext cx="336499" cy="33649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5500116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Site crawl</a:t>
            </a:r>
            <a:endParaRPr lang="en-US" sz="2200" dirty="0"/>
          </a:p>
        </p:txBody>
      </p:sp>
      <p:sp>
        <p:nvSpPr>
          <p:cNvPr id="13" name="Text 9"/>
          <p:cNvSpPr txBox="1"/>
          <p:nvPr/>
        </p:nvSpPr>
        <p:spPr>
          <a:xfrm>
            <a:off x="5500116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Whole site, on a schedule</a:t>
            </a:r>
            <a:endParaRPr lang="en-US" sz="1400" dirty="0"/>
          </a:p>
        </p:txBody>
      </p:sp>
      <p:sp>
        <p:nvSpPr>
          <p:cNvPr id="14" name="Text 10"/>
          <p:cNvSpPr txBox="1"/>
          <p:nvPr/>
        </p:nvSpPr>
        <p:spPr>
          <a:xfrm>
            <a:off x="4585716" y="297180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Follows internal links, up to 50 pages by default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Hourly, daily, weekly, monthly or cron schedules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Site score, regressions between crawls, AI summary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Emails and Slack or Teams reports when done</a:t>
            </a:r>
            <a:endParaRPr lang="en-US" sz="1700" dirty="0"/>
          </a:p>
        </p:txBody>
      </p:sp>
      <p:sp>
        <p:nvSpPr>
          <p:cNvPr id="15" name="Scan mode card Assistive Testing"/>
          <p:cNvSpPr/>
          <p:nvPr/>
        </p:nvSpPr>
        <p:spPr>
          <a:xfrm>
            <a:off x="8074152" y="1508760"/>
            <a:ext cx="3566160" cy="4572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ssistive Testing badge"/>
          <p:cNvSpPr/>
          <p:nvPr/>
        </p:nvSpPr>
        <p:spPr>
          <a:xfrm>
            <a:off x="8348472" y="1737360"/>
            <a:ext cx="731520" cy="73152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17" name="Assistive Testing icon" descr="Assistive Testi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5982" y="1934870"/>
            <a:ext cx="336499" cy="336499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9262872" y="17373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Assistive Testing</a:t>
            </a:r>
            <a:endParaRPr lang="en-US" sz="2200" dirty="0"/>
          </a:p>
        </p:txBody>
      </p:sp>
      <p:sp>
        <p:nvSpPr>
          <p:cNvPr id="19" name="Text 14"/>
          <p:cNvSpPr txBox="1"/>
          <p:nvPr/>
        </p:nvSpPr>
        <p:spPr>
          <a:xfrm>
            <a:off x="9262872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chemeClr val="accent1"/>
                </a:solidFill>
              </a:rPr>
              <a:t>Checks axe cannot make</a:t>
            </a:r>
            <a:endParaRPr lang="en-US" sz="1400" dirty="0"/>
          </a:p>
        </p:txBody>
      </p:sp>
      <p:sp>
        <p:nvSpPr>
          <p:cNvPr id="20" name="Text 15"/>
          <p:cNvSpPr txBox="1"/>
          <p:nvPr/>
        </p:nvSpPr>
        <p:spPr>
          <a:xfrm>
            <a:off x="8348472" y="2971800"/>
            <a:ext cx="30632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Keyboard navigation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Color contrast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Page structure: headings and landmarks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Forms: labels, autocomplete, fieldsets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Auto-Fix: from violation to pull request</a:t>
            </a:r>
            <a:endParaRPr lang="en-US" sz="3600" dirty="0"/>
          </a:p>
        </p:txBody>
      </p:sp>
      <p:sp>
        <p:nvSpPr>
          <p:cNvPr id="3" name="Pipeline track"/>
          <p:cNvSpPr/>
          <p:nvPr/>
        </p:nvSpPr>
        <p:spPr>
          <a:xfrm>
            <a:off x="1241870" y="1874520"/>
            <a:ext cx="9705213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4" name="Step 1"/>
          <p:cNvSpPr/>
          <p:nvPr/>
        </p:nvSpPr>
        <p:spPr>
          <a:xfrm>
            <a:off x="921830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21830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1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Clone repo</a:t>
            </a:r>
            <a:endParaRPr lang="en-US" sz="1400" dirty="0"/>
          </a:p>
        </p:txBody>
      </p:sp>
      <p:sp>
        <p:nvSpPr>
          <p:cNvPr id="7" name="Step 2"/>
          <p:cNvSpPr/>
          <p:nvPr/>
        </p:nvSpPr>
        <p:spPr>
          <a:xfrm>
            <a:off x="2308289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08289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2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1980819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Locate source</a:t>
            </a:r>
            <a:endParaRPr lang="en-US" sz="1400" dirty="0"/>
          </a:p>
        </p:txBody>
      </p:sp>
      <p:sp>
        <p:nvSpPr>
          <p:cNvPr id="10" name="Step 3"/>
          <p:cNvSpPr/>
          <p:nvPr/>
        </p:nvSpPr>
        <p:spPr>
          <a:xfrm>
            <a:off x="3694748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694748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3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3367278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Generate patch</a:t>
            </a:r>
            <a:endParaRPr lang="en-US" sz="1400" dirty="0"/>
          </a:p>
        </p:txBody>
      </p:sp>
      <p:sp>
        <p:nvSpPr>
          <p:cNvPr id="13" name="Step 4"/>
          <p:cNvSpPr/>
          <p:nvPr/>
        </p:nvSpPr>
        <p:spPr>
          <a:xfrm>
            <a:off x="5081207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5081207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4</a:t>
            </a:r>
            <a:endParaRPr lang="en-US" sz="2000" dirty="0"/>
          </a:p>
        </p:txBody>
      </p:sp>
      <p:sp>
        <p:nvSpPr>
          <p:cNvPr id="15" name="Text 13"/>
          <p:cNvSpPr txBox="1"/>
          <p:nvPr/>
        </p:nvSpPr>
        <p:spPr>
          <a:xfrm>
            <a:off x="4753737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Validate</a:t>
            </a:r>
            <a:endParaRPr lang="en-US" sz="1400" dirty="0"/>
          </a:p>
        </p:txBody>
      </p:sp>
      <p:sp>
        <p:nvSpPr>
          <p:cNvPr id="16" name="Step 5"/>
          <p:cNvSpPr/>
          <p:nvPr/>
        </p:nvSpPr>
        <p:spPr>
          <a:xfrm>
            <a:off x="6467666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467666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5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6140196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Run tests</a:t>
            </a:r>
            <a:endParaRPr lang="en-US" sz="1400" dirty="0"/>
          </a:p>
        </p:txBody>
      </p:sp>
      <p:sp>
        <p:nvSpPr>
          <p:cNvPr id="19" name="Step 6"/>
          <p:cNvSpPr/>
          <p:nvPr/>
        </p:nvSpPr>
        <p:spPr>
          <a:xfrm>
            <a:off x="7854125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54125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6</a:t>
            </a:r>
            <a:endParaRPr lang="en-US" sz="2000" dirty="0"/>
          </a:p>
        </p:txBody>
      </p:sp>
      <p:sp>
        <p:nvSpPr>
          <p:cNvPr id="21" name="Text 19"/>
          <p:cNvSpPr txBox="1"/>
          <p:nvPr/>
        </p:nvSpPr>
        <p:spPr>
          <a:xfrm>
            <a:off x="7526655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Build, re-scan</a:t>
            </a:r>
            <a:endParaRPr lang="en-US" sz="1400" dirty="0"/>
          </a:p>
        </p:txBody>
      </p:sp>
      <p:sp>
        <p:nvSpPr>
          <p:cNvPr id="22" name="Step 7"/>
          <p:cNvSpPr/>
          <p:nvPr/>
        </p:nvSpPr>
        <p:spPr>
          <a:xfrm>
            <a:off x="9240584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240584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7</a:t>
            </a:r>
            <a:endParaRPr lang="en-US" sz="2000" dirty="0"/>
          </a:p>
        </p:txBody>
      </p:sp>
      <p:sp>
        <p:nvSpPr>
          <p:cNvPr id="24" name="Text 22"/>
          <p:cNvSpPr txBox="1"/>
          <p:nvPr/>
        </p:nvSpPr>
        <p:spPr>
          <a:xfrm>
            <a:off x="8913114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Push branch</a:t>
            </a:r>
            <a:endParaRPr lang="en-US" sz="1400" dirty="0"/>
          </a:p>
        </p:txBody>
      </p:sp>
      <p:sp>
        <p:nvSpPr>
          <p:cNvPr id="25" name="Step 8"/>
          <p:cNvSpPr/>
          <p:nvPr/>
        </p:nvSpPr>
        <p:spPr>
          <a:xfrm>
            <a:off x="10627043" y="1554480"/>
            <a:ext cx="640080" cy="640080"/>
          </a:xfrm>
          <a:prstGeom prst="ellipse">
            <a:avLst/>
          </a:prstGeom>
          <a:solidFill>
            <a:schemeClr val="accent1"/>
          </a:solidFill>
          <a:ln w="38100">
            <a:solidFill>
              <a:schemeClr val="bg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10627043" y="15544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chemeClr val="bg1"/>
                </a:solidFill>
              </a:rPr>
              <a:t>8</a:t>
            </a:r>
            <a:endParaRPr lang="en-US" sz="2000" dirty="0"/>
          </a:p>
        </p:txBody>
      </p:sp>
      <p:sp>
        <p:nvSpPr>
          <p:cNvPr id="27" name="Text 25"/>
          <p:cNvSpPr txBox="1"/>
          <p:nvPr/>
        </p:nvSpPr>
        <p:spPr>
          <a:xfrm>
            <a:off x="10299573" y="2331720"/>
            <a:ext cx="1295019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Open PR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3246120"/>
            <a:ext cx="1097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Providers:</a:t>
            </a:r>
            <a:endParaRPr lang="en-US" sz="1500" dirty="0"/>
          </a:p>
        </p:txBody>
      </p:sp>
      <p:sp>
        <p:nvSpPr>
          <p:cNvPr id="29" name="Provider GitHub"/>
          <p:cNvSpPr/>
          <p:nvPr/>
        </p:nvSpPr>
        <p:spPr>
          <a:xfrm>
            <a:off x="1691640" y="3246120"/>
            <a:ext cx="16002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169164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GitHub</a:t>
            </a:r>
            <a:endParaRPr lang="en-US" sz="1400" dirty="0"/>
          </a:p>
        </p:txBody>
      </p:sp>
      <p:sp>
        <p:nvSpPr>
          <p:cNvPr id="31" name="Provider GitLab"/>
          <p:cNvSpPr/>
          <p:nvPr/>
        </p:nvSpPr>
        <p:spPr>
          <a:xfrm>
            <a:off x="3474720" y="3246120"/>
            <a:ext cx="16002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347472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GitLab</a:t>
            </a:r>
            <a:endParaRPr lang="en-US" sz="1400" dirty="0"/>
          </a:p>
        </p:txBody>
      </p:sp>
      <p:sp>
        <p:nvSpPr>
          <p:cNvPr id="33" name="Provider Bitbucket"/>
          <p:cNvSpPr/>
          <p:nvPr/>
        </p:nvSpPr>
        <p:spPr>
          <a:xfrm>
            <a:off x="5257800" y="3246120"/>
            <a:ext cx="16002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525780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Bitbucket</a:t>
            </a:r>
            <a:endParaRPr lang="en-US" sz="1400" dirty="0"/>
          </a:p>
        </p:txBody>
      </p:sp>
      <p:sp>
        <p:nvSpPr>
          <p:cNvPr id="35" name="Provider Azure DevOps"/>
          <p:cNvSpPr/>
          <p:nvPr/>
        </p:nvSpPr>
        <p:spPr>
          <a:xfrm>
            <a:off x="7040880" y="3246120"/>
            <a:ext cx="1600200" cy="36576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7040880" y="324612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Azure DevOps</a:t>
            </a:r>
            <a:endParaRPr lang="en-US" sz="1400" dirty="0"/>
          </a:p>
        </p:txBody>
      </p:sp>
      <p:sp>
        <p:nvSpPr>
          <p:cNvPr id="37" name="Safeguard card A human merges"/>
          <p:cNvSpPr/>
          <p:nvPr/>
        </p:nvSpPr>
        <p:spPr>
          <a:xfrm>
            <a:off x="548640" y="3977640"/>
            <a:ext cx="356616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8" name="A human merges badge"/>
          <p:cNvSpPr/>
          <p:nvPr/>
        </p:nvSpPr>
        <p:spPr>
          <a:xfrm>
            <a:off x="822960" y="4206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39" name="A human merges icon" descr="A human merg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3437" y="4366717"/>
            <a:ext cx="273406" cy="273406"/>
          </a:xfrm>
          <a:prstGeom prst="rect">
            <a:avLst/>
          </a:prstGeom>
        </p:spPr>
      </p:pic>
      <p:sp>
        <p:nvSpPr>
          <p:cNvPr id="40" name="Text 37"/>
          <p:cNvSpPr txBox="1"/>
          <p:nvPr/>
        </p:nvSpPr>
        <p:spPr>
          <a:xfrm>
            <a:off x="1600200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A human merges</a:t>
            </a:r>
            <a:endParaRPr lang="en-US" sz="1900" dirty="0"/>
          </a:p>
        </p:txBody>
      </p:sp>
      <p:sp>
        <p:nvSpPr>
          <p:cNvPr id="41" name="Text 38"/>
          <p:cNvSpPr txBox="1"/>
          <p:nvPr/>
        </p:nvSpPr>
        <p:spPr>
          <a:xfrm>
            <a:off x="822960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AI fixes are never auto-merged. Only a few deterministic rules can be.</a:t>
            </a:r>
            <a:endParaRPr lang="en-US" sz="1500" dirty="0"/>
          </a:p>
        </p:txBody>
      </p:sp>
      <p:sp>
        <p:nvSpPr>
          <p:cNvPr id="42" name="Safeguard card No duplicate PRs"/>
          <p:cNvSpPr/>
          <p:nvPr/>
        </p:nvSpPr>
        <p:spPr>
          <a:xfrm>
            <a:off x="4311396" y="3977640"/>
            <a:ext cx="356616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3" name="No duplicate PRs badge"/>
          <p:cNvSpPr/>
          <p:nvPr/>
        </p:nvSpPr>
        <p:spPr>
          <a:xfrm>
            <a:off x="4585716" y="4206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4" name="No duplicate PRs icon" descr="No duplicate P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6193" y="4366717"/>
            <a:ext cx="273406" cy="273406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5362956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No duplicate PRs</a:t>
            </a:r>
            <a:endParaRPr lang="en-US" sz="1900" dirty="0"/>
          </a:p>
        </p:txBody>
      </p:sp>
      <p:sp>
        <p:nvSpPr>
          <p:cNvPr id="46" name="Text 42"/>
          <p:cNvSpPr txBox="1"/>
          <p:nvPr/>
        </p:nvSpPr>
        <p:spPr>
          <a:xfrm>
            <a:off x="4585716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An identical patch with an open PR is reused. Closed PRs are checked at the provider.</a:t>
            </a:r>
            <a:endParaRPr lang="en-US" sz="1500" dirty="0"/>
          </a:p>
        </p:txBody>
      </p:sp>
      <p:sp>
        <p:nvSpPr>
          <p:cNvPr id="47" name="Safeguard card Safe by design"/>
          <p:cNvSpPr/>
          <p:nvPr/>
        </p:nvSpPr>
        <p:spPr>
          <a:xfrm>
            <a:off x="8074152" y="3977640"/>
            <a:ext cx="3566160" cy="214884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8" name="Safe by design badge"/>
          <p:cNvSpPr/>
          <p:nvPr/>
        </p:nvSpPr>
        <p:spPr>
          <a:xfrm>
            <a:off x="8348472" y="420624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9" name="Safe by design icon" descr="Safe by desig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8949" y="4366717"/>
            <a:ext cx="273406" cy="273406"/>
          </a:xfrm>
          <a:prstGeom prst="rect">
            <a:avLst/>
          </a:prstGeom>
        </p:spPr>
      </p:pic>
      <p:sp>
        <p:nvSpPr>
          <p:cNvPr id="50" name="Text 45"/>
          <p:cNvSpPr txBox="1"/>
          <p:nvPr/>
        </p:nvSpPr>
        <p:spPr>
          <a:xfrm>
            <a:off x="9125712" y="420624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chemeClr val="tx2"/>
                </a:solidFill>
              </a:rPr>
              <a:t>Safe by design</a:t>
            </a:r>
            <a:endParaRPr lang="en-US" sz="1900" dirty="0"/>
          </a:p>
        </p:txBody>
      </p:sp>
      <p:sp>
        <p:nvSpPr>
          <p:cNvPr id="51" name="Text 46"/>
          <p:cNvSpPr txBox="1"/>
          <p:nvPr/>
        </p:nvSpPr>
        <p:spPr>
          <a:xfrm>
            <a:off x="8348472" y="4983480"/>
            <a:ext cx="3063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Truncated AI output is rejected. Assistive fixes are labelled in the PR title and body.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The GitHub Action, end to end</a:t>
            </a:r>
            <a:endParaRPr lang="en-US" sz="3600" dirty="0"/>
          </a:p>
        </p:txBody>
      </p:sp>
      <p:sp>
        <p:nvSpPr>
          <p:cNvPr id="3" name="Action step 1"/>
          <p:cNvSpPr/>
          <p:nvPr/>
        </p:nvSpPr>
        <p:spPr>
          <a:xfrm>
            <a:off x="548640" y="1508760"/>
            <a:ext cx="169164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Action step number 1"/>
          <p:cNvSpPr/>
          <p:nvPr/>
        </p:nvSpPr>
        <p:spPr>
          <a:xfrm>
            <a:off x="68580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Trigger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31089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Push or pull request to main, or a manual run.</a:t>
            </a:r>
            <a:endParaRPr lang="en-US" sz="1500" dirty="0"/>
          </a:p>
        </p:txBody>
      </p:sp>
      <p:sp>
        <p:nvSpPr>
          <p:cNvPr id="8" name="Action arrow 1"/>
          <p:cNvSpPr/>
          <p:nvPr/>
        </p:nvSpPr>
        <p:spPr>
          <a:xfrm>
            <a:off x="2249424" y="3108960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" name="Action step 2"/>
          <p:cNvSpPr/>
          <p:nvPr/>
        </p:nvSpPr>
        <p:spPr>
          <a:xfrm>
            <a:off x="2423160" y="1508760"/>
            <a:ext cx="169164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Action step number 2"/>
          <p:cNvSpPr/>
          <p:nvPr/>
        </p:nvSpPr>
        <p:spPr>
          <a:xfrm>
            <a:off x="256032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56032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256032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Scan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2560320" y="31089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Calls /api/scan with an ada_ API key, then polls up to 120 s.</a:t>
            </a:r>
            <a:endParaRPr lang="en-US" sz="1500" dirty="0"/>
          </a:p>
        </p:txBody>
      </p:sp>
      <p:sp>
        <p:nvSpPr>
          <p:cNvPr id="14" name="Action arrow 2"/>
          <p:cNvSpPr/>
          <p:nvPr/>
        </p:nvSpPr>
        <p:spPr>
          <a:xfrm>
            <a:off x="4123944" y="3108960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15" name="Action step 3"/>
          <p:cNvSpPr/>
          <p:nvPr/>
        </p:nvSpPr>
        <p:spPr>
          <a:xfrm>
            <a:off x="4297680" y="1508760"/>
            <a:ext cx="169164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6" name="Action step number 3"/>
          <p:cNvSpPr/>
          <p:nvPr/>
        </p:nvSpPr>
        <p:spPr>
          <a:xfrm>
            <a:off x="443484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43484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3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443484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Auto-Fix axe rules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434840" y="31089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One batch call per violated rule opens one PR.</a:t>
            </a:r>
            <a:endParaRPr lang="en-US" sz="1500" dirty="0"/>
          </a:p>
        </p:txBody>
      </p:sp>
      <p:sp>
        <p:nvSpPr>
          <p:cNvPr id="20" name="Action arrow 3"/>
          <p:cNvSpPr/>
          <p:nvPr/>
        </p:nvSpPr>
        <p:spPr>
          <a:xfrm>
            <a:off x="5998464" y="3108960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1" name="Action step 4"/>
          <p:cNvSpPr/>
          <p:nvPr/>
        </p:nvSpPr>
        <p:spPr>
          <a:xfrm>
            <a:off x="6172200" y="1508760"/>
            <a:ext cx="169164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2" name="Action step number 4"/>
          <p:cNvSpPr/>
          <p:nvPr/>
        </p:nvSpPr>
        <p:spPr>
          <a:xfrm>
            <a:off x="630936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30936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</a:t>
            </a:r>
            <a:endParaRPr lang="en-US" sz="1800" dirty="0"/>
          </a:p>
        </p:txBody>
      </p:sp>
      <p:sp>
        <p:nvSpPr>
          <p:cNvPr id="24" name="Text 22"/>
          <p:cNvSpPr txBox="1"/>
          <p:nvPr/>
        </p:nvSpPr>
        <p:spPr>
          <a:xfrm>
            <a:off x="630936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Assistive Testing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6309360" y="31089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Runs all four modules on the same site.</a:t>
            </a:r>
            <a:endParaRPr lang="en-US" sz="1500" dirty="0"/>
          </a:p>
        </p:txBody>
      </p:sp>
      <p:sp>
        <p:nvSpPr>
          <p:cNvPr id="26" name="Action arrow 4"/>
          <p:cNvSpPr/>
          <p:nvPr/>
        </p:nvSpPr>
        <p:spPr>
          <a:xfrm>
            <a:off x="7872984" y="3108960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27" name="Action step 5"/>
          <p:cNvSpPr/>
          <p:nvPr/>
        </p:nvSpPr>
        <p:spPr>
          <a:xfrm>
            <a:off x="8046720" y="1508760"/>
            <a:ext cx="169164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28" name="Action step number 5"/>
          <p:cNvSpPr/>
          <p:nvPr/>
        </p:nvSpPr>
        <p:spPr>
          <a:xfrm>
            <a:off x="818388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18388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5</a:t>
            </a:r>
            <a:endParaRPr lang="en-US" sz="180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Auto-Fix assistive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8183880" y="31089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Up to 5 issues per failed module, each its own PR.</a:t>
            </a:r>
            <a:endParaRPr lang="en-US" sz="1500" dirty="0"/>
          </a:p>
        </p:txBody>
      </p:sp>
      <p:sp>
        <p:nvSpPr>
          <p:cNvPr id="32" name="Action arrow 5"/>
          <p:cNvSpPr/>
          <p:nvPr/>
        </p:nvSpPr>
        <p:spPr>
          <a:xfrm>
            <a:off x="9747504" y="3108960"/>
            <a:ext cx="164592" cy="0"/>
          </a:xfrm>
          <a:prstGeom prst="line">
            <a:avLst/>
          </a:prstGeom>
          <a:noFill/>
          <a:ln w="25400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33" name="Action step 6"/>
          <p:cNvSpPr/>
          <p:nvPr/>
        </p:nvSpPr>
        <p:spPr>
          <a:xfrm>
            <a:off x="9921240" y="1508760"/>
            <a:ext cx="1691640" cy="324612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4" name="Action step number 6"/>
          <p:cNvSpPr/>
          <p:nvPr/>
        </p:nvSpPr>
        <p:spPr>
          <a:xfrm>
            <a:off x="10058400" y="1691640"/>
            <a:ext cx="548640" cy="54864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10058400" y="16916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6</a:t>
            </a:r>
            <a:endParaRPr lang="en-US" sz="1800" dirty="0"/>
          </a:p>
        </p:txBody>
      </p:sp>
      <p:sp>
        <p:nvSpPr>
          <p:cNvPr id="36" name="Text 34"/>
          <p:cNvSpPr txBox="1"/>
          <p:nvPr/>
        </p:nvSpPr>
        <p:spPr>
          <a:xfrm>
            <a:off x="10058400" y="2423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 and gate</a:t>
            </a:r>
            <a:endParaRPr lang="en-US" sz="1600" dirty="0"/>
          </a:p>
        </p:txBody>
      </p:sp>
      <p:sp>
        <p:nvSpPr>
          <p:cNvPr id="37" name="Text 35"/>
          <p:cNvSpPr txBox="1"/>
          <p:nvPr/>
        </p:nvSpPr>
        <p:spPr>
          <a:xfrm>
            <a:off x="10058400" y="3108960"/>
            <a:ext cx="14630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PR comment and Job Summary. Fails if issues remain.</a:t>
            </a:r>
            <a:endParaRPr lang="en-US" sz="1500" dirty="0"/>
          </a:p>
        </p:txBody>
      </p:sp>
      <p:sp>
        <p:nvSpPr>
          <p:cNvPr id="38" name="Action note Secrets"/>
          <p:cNvSpPr/>
          <p:nvPr/>
        </p:nvSpPr>
        <p:spPr>
          <a:xfrm>
            <a:off x="548640" y="5029200"/>
            <a:ext cx="542239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39" name="Secrets badge"/>
          <p:cNvSpPr/>
          <p:nvPr/>
        </p:nvSpPr>
        <p:spPr>
          <a:xfrm>
            <a:off x="777240" y="5303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0" name="Secrets icon" descr="Secret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7717" y="5463997"/>
            <a:ext cx="273406" cy="273406"/>
          </a:xfrm>
          <a:prstGeom prst="rect">
            <a:avLst/>
          </a:prstGeom>
        </p:spPr>
      </p:pic>
      <p:sp>
        <p:nvSpPr>
          <p:cNvPr id="41" name="Text 38"/>
          <p:cNvSpPr txBox="1"/>
          <p:nvPr/>
        </p:nvSpPr>
        <p:spPr>
          <a:xfrm>
            <a:off x="1554480" y="5166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Secrets</a:t>
            </a:r>
            <a:endParaRPr lang="en-US" sz="1600" dirty="0"/>
          </a:p>
        </p:txBody>
      </p:sp>
      <p:sp>
        <p:nvSpPr>
          <p:cNvPr id="42" name="Text 39"/>
          <p:cNvSpPr txBox="1"/>
          <p:nvPr/>
        </p:nvSpPr>
        <p:spPr>
          <a:xfrm>
            <a:off x="1554480" y="5486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ADA_API_BASE and ADA_API_KEY. The PR comment uses the built-in GITHUB_TOKEN.</a:t>
            </a:r>
            <a:endParaRPr lang="en-US" sz="1400" dirty="0"/>
          </a:p>
        </p:txBody>
      </p:sp>
      <p:sp>
        <p:nvSpPr>
          <p:cNvPr id="43" name="Action note Loop guard"/>
          <p:cNvSpPr/>
          <p:nvPr/>
        </p:nvSpPr>
        <p:spPr>
          <a:xfrm>
            <a:off x="6217920" y="5029200"/>
            <a:ext cx="5422392" cy="11430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4" name="Loop guard badge"/>
          <p:cNvSpPr/>
          <p:nvPr/>
        </p:nvSpPr>
        <p:spPr>
          <a:xfrm>
            <a:off x="6446520" y="5303520"/>
            <a:ext cx="594360" cy="59436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45" name="Loop guard icon" descr="Loop guard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6997" y="5463997"/>
            <a:ext cx="273406" cy="273406"/>
          </a:xfrm>
          <a:prstGeom prst="rect">
            <a:avLst/>
          </a:prstGeom>
        </p:spPr>
      </p:pic>
      <p:sp>
        <p:nvSpPr>
          <p:cNvPr id="46" name="Text 42"/>
          <p:cNvSpPr txBox="1"/>
          <p:nvPr/>
        </p:nvSpPr>
        <p:spPr>
          <a:xfrm>
            <a:off x="7223760" y="51663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Loop guard</a:t>
            </a:r>
            <a:endParaRPr lang="en-US" sz="1600" dirty="0"/>
          </a:p>
        </p:txBody>
      </p:sp>
      <p:sp>
        <p:nvSpPr>
          <p:cNvPr id="47" name="Text 43"/>
          <p:cNvSpPr txBox="1"/>
          <p:nvPr/>
        </p:nvSpPr>
        <p:spPr>
          <a:xfrm>
            <a:off x="7223760" y="5486400"/>
            <a:ext cx="4206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Runs from ada/fix/* branches are skipped. Without it, one run created 280+ PRs.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Pilot results on the test site</a:t>
            </a:r>
            <a:endParaRPr lang="en-US" sz="3600" dirty="0"/>
          </a:p>
        </p:txBody>
      </p:sp>
      <p:sp>
        <p:nvSpPr>
          <p:cNvPr id="3" name="Stat card 1"/>
          <p:cNvSpPr/>
          <p:nvPr/>
        </p:nvSpPr>
        <p:spPr>
          <a:xfrm>
            <a:off x="548640" y="141732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Text 2"/>
          <p:cNvSpPr txBox="1"/>
          <p:nvPr/>
        </p:nvSpPr>
        <p:spPr>
          <a:xfrm>
            <a:off x="731520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17</a:t>
            </a:r>
            <a:endParaRPr lang="en-US" sz="40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violated, 80 elements</a:t>
            </a:r>
            <a:endParaRPr lang="en-US" sz="1400" dirty="0"/>
          </a:p>
        </p:txBody>
      </p:sp>
      <p:sp>
        <p:nvSpPr>
          <p:cNvPr id="6" name="Stat card 2"/>
          <p:cNvSpPr/>
          <p:nvPr/>
        </p:nvSpPr>
        <p:spPr>
          <a:xfrm>
            <a:off x="3364992" y="141732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3547872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16 of 17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3547872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rules got a fix PR</a:t>
            </a:r>
            <a:endParaRPr lang="en-US" sz="1400" dirty="0"/>
          </a:p>
        </p:txBody>
      </p:sp>
      <p:sp>
        <p:nvSpPr>
          <p:cNvPr id="9" name="Stat card 3"/>
          <p:cNvSpPr/>
          <p:nvPr/>
        </p:nvSpPr>
        <p:spPr>
          <a:xfrm>
            <a:off x="6181344" y="141732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 txBox="1"/>
          <p:nvPr/>
        </p:nvSpPr>
        <p:spPr>
          <a:xfrm>
            <a:off x="6364224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4</a:t>
            </a:r>
            <a:endParaRPr lang="en-US" sz="4000" dirty="0"/>
          </a:p>
        </p:txBody>
      </p:sp>
      <p:sp>
        <p:nvSpPr>
          <p:cNvPr id="11" name="Text 9"/>
          <p:cNvSpPr txBox="1"/>
          <p:nvPr/>
        </p:nvSpPr>
        <p:spPr>
          <a:xfrm>
            <a:off x="6364224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Assistive Testing PRs</a:t>
            </a:r>
            <a:endParaRPr lang="en-US" sz="1400" dirty="0"/>
          </a:p>
        </p:txBody>
      </p:sp>
      <p:sp>
        <p:nvSpPr>
          <p:cNvPr id="12" name="Stat card 4"/>
          <p:cNvSpPr/>
          <p:nvPr/>
        </p:nvSpPr>
        <p:spPr>
          <a:xfrm>
            <a:off x="8997696" y="1417320"/>
            <a:ext cx="2651760" cy="16002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 txBox="1"/>
          <p:nvPr/>
        </p:nvSpPr>
        <p:spPr>
          <a:xfrm>
            <a:off x="9180576" y="150876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1"/>
                </a:solidFill>
              </a:rPr>
              <a:t>0</a:t>
            </a:r>
            <a:endParaRPr lang="en-US" sz="4000" dirty="0"/>
          </a:p>
        </p:txBody>
      </p:sp>
      <p:sp>
        <p:nvSpPr>
          <p:cNvPr id="14" name="Text 12"/>
          <p:cNvSpPr txBox="1"/>
          <p:nvPr/>
        </p:nvSpPr>
        <p:spPr>
          <a:xfrm>
            <a:off x="9180576" y="237744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PRs on a second run</a:t>
            </a:r>
            <a:endParaRPr lang="en-US" sz="1400" dirty="0"/>
          </a:p>
        </p:txBody>
      </p:sp>
      <p:graphicFrame>
        <p:nvGraphicFramePr>
          <p:cNvPr id="15" name="Chart 0" descr=""/>
          <p:cNvGraphicFramePr/>
          <p:nvPr/>
        </p:nvGraphicFramePr>
        <p:xfrm>
          <a:off x="548640" y="3337560"/>
          <a:ext cx="4206240" cy="2834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6" name="Text 13"/>
          <p:cNvSpPr txBox="1"/>
          <p:nvPr/>
        </p:nvSpPr>
        <p:spPr>
          <a:xfrm>
            <a:off x="5120640" y="333756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Found in the pilot, then fixed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5120640" y="3794760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Whole-file AI rewrites were cut off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5120640" y="412394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3 PRs deleted about 80 lines. Truncated output is now rejected.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5120640" y="4599432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Five PRs made the same CSS change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5120640" y="492861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One shared class, five elements. Now one PR.</a:t>
            </a:r>
            <a:endParaRPr lang="en-US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5120640" y="5404104"/>
            <a:ext cx="6492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bad reply crashed the run</a:t>
            </a:r>
            <a:endParaRPr lang="en-US" sz="1600" dirty="0"/>
          </a:p>
        </p:txBody>
      </p:sp>
      <p:sp>
        <p:nvSpPr>
          <p:cNvPr id="22" name="Text 19"/>
          <p:cNvSpPr txBox="1"/>
          <p:nvPr/>
        </p:nvSpPr>
        <p:spPr>
          <a:xfrm>
            <a:off x="5120640" y="57332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5"/>
                </a:solidFill>
              </a:rPr>
              <a:t>An ngrok HTML error page ended CI. It now fails a single call.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tx2"/>
                </a:solidFill>
              </a:rPr>
              <a:t>Reporting, gaps and next steps</a:t>
            </a:r>
            <a:endParaRPr lang="en-US" sz="3600" dirty="0"/>
          </a:p>
        </p:txBody>
      </p:sp>
      <p:sp>
        <p:nvSpPr>
          <p:cNvPr id="3" name="Reporting card"/>
          <p:cNvSpPr/>
          <p:nvPr/>
        </p:nvSpPr>
        <p:spPr>
          <a:xfrm>
            <a:off x="548640" y="1508760"/>
            <a:ext cx="5422392" cy="411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4" name="Reporting badge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chemeClr val="accent1"/>
          </a:solidFill>
          <a:ln w="12700">
            <a:solidFill>
              <a:schemeClr val="accent1"/>
            </a:solidFill>
            <a:prstDash val="solid"/>
          </a:ln>
        </p:spPr>
      </p:sp>
      <p:pic>
        <p:nvPicPr>
          <p:cNvPr id="5" name="Reporting icon" descr="Reporti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5782" y="1910182"/>
            <a:ext cx="294437" cy="294437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64592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Already shipped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822960" y="26517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Scan History: trends, WCAG level and impact bars, needs-review count, Assistive pass rates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Client Health tree: website to page, open versus fixed issues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Alerts, plus Slack, Teams, email and PDF reports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Fix History for every Auto-Fix attempt</a:t>
            </a:r>
            <a:endParaRPr lang="en-US" sz="1700" dirty="0"/>
          </a:p>
        </p:txBody>
      </p:sp>
      <p:sp>
        <p:nvSpPr>
          <p:cNvPr id="8" name="Next steps card"/>
          <p:cNvSpPr/>
          <p:nvPr/>
        </p:nvSpPr>
        <p:spPr>
          <a:xfrm>
            <a:off x="6217920" y="1508760"/>
            <a:ext cx="5422392" cy="4114800"/>
          </a:xfrm>
          <a:prstGeom prst="rect">
            <a:avLst/>
          </a:prstGeom>
          <a:solidFill>
            <a:schemeClr val="bg2"/>
          </a:solidFill>
          <a:ln w="12700">
            <a:solidFill>
              <a:schemeClr val="bg2"/>
            </a:solidFill>
            <a:prstDash val="solid"/>
          </a:ln>
          <a:effectLst>
            <a:outerShdw sx="100000" sy="100000" kx="0" ky="0" algn="bl" rotWithShape="0" blurRad="101600" dist="25400" dir="5400000">
              <a:srgbClr val="000000">
                <a:alpha val="12000"/>
              </a:srgbClr>
            </a:outerShdw>
          </a:effectLst>
        </p:spPr>
      </p:sp>
      <p:sp>
        <p:nvSpPr>
          <p:cNvPr id="9" name="Next steps badge"/>
          <p:cNvSpPr/>
          <p:nvPr/>
        </p:nvSpPr>
        <p:spPr>
          <a:xfrm>
            <a:off x="6492240" y="1737360"/>
            <a:ext cx="640080" cy="640080"/>
          </a:xfrm>
          <a:prstGeom prst="ellipse">
            <a:avLst/>
          </a:prstGeom>
          <a:solidFill>
            <a:schemeClr val="accent4"/>
          </a:solidFill>
          <a:ln w="12700">
            <a:solidFill>
              <a:schemeClr val="accent4"/>
            </a:solidFill>
            <a:prstDash val="solid"/>
          </a:ln>
        </p:spPr>
      </p:sp>
      <p:pic>
        <p:nvPicPr>
          <p:cNvPr id="10" name="Next steps icon" descr="Next step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5062" y="1910182"/>
            <a:ext cx="294437" cy="294437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7315200" y="173736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Known gaps and next</a:t>
            </a:r>
            <a:endParaRPr lang="en-US" sz="2200" dirty="0"/>
          </a:p>
        </p:txBody>
      </p:sp>
      <p:sp>
        <p:nvSpPr>
          <p:cNvPr id="12" name="Text 8"/>
          <p:cNvSpPr txBox="1"/>
          <p:nvPr/>
        </p:nvSpPr>
        <p:spPr>
          <a:xfrm>
            <a:off x="6492240" y="2651760"/>
            <a:ext cx="489204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autocomplete-valid has no fix, and color-contrast fixes 1 of 15 elements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CI scans the deployed site, not the PR preview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Backend still runs on a dev machine behind ngrok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Group repeated elements in crawl results</a:t>
            </a:r>
            <a:endParaRPr lang="en-US" sz="17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700" dirty="0">
                <a:solidFill>
                  <a:schemeClr val="tx1"/>
                </a:solidFill>
              </a:rPr>
              <a:t>Free versus paid split for Assistive Testing modules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00800"/>
            <a:ext cx="484632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DA Teal">
  <a:themeElements>
    <a:clrScheme name="ADA Teal">
      <a:dk1>
        <a:srgbClr val="12201F"/>
      </a:dk1>
      <a:lt1>
        <a:srgbClr val="FFFFFF"/>
      </a:lt1>
      <a:dk2>
        <a:srgbClr val="0F3D3E"/>
      </a:dk2>
      <a:lt2>
        <a:srgbClr val="EAF4F3"/>
      </a:lt2>
      <a:accent1>
        <a:srgbClr val="0F766E"/>
      </a:accent1>
      <a:accent2>
        <a:srgbClr val="2DD4BF"/>
      </a:accent2>
      <a:accent3>
        <a:srgbClr val="DC2626"/>
      </a:accent3>
      <a:accent4>
        <a:srgbClr val="EA580C"/>
      </a:accent4>
      <a:accent5>
        <a:srgbClr val="5B6F6E"/>
      </a:accent5>
      <a:accent6>
        <a:srgbClr val="F4B63F"/>
      </a:accent6>
      <a:hlink>
        <a:srgbClr val="0F766E"/>
      </a:hlink>
      <a:folHlink>
        <a:srgbClr val="5B6F6E"/>
      </a:folHlink>
    </a:clrScheme>
    <a:fontScheme name="ADA Teal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ADA Accessibility Intelligence — tool and GitHub Action overview</dc:title>
  <dc:subject>PptxGenJS Presentation</dc:subject>
  <dc:creator>PptxGenJS</dc:creator>
  <cp:lastModifiedBy>PptxGenJS</cp:lastModifiedBy>
  <cp:revision>1</cp:revision>
  <dcterms:created xsi:type="dcterms:W3CDTF">2026-10-21T06:02:40Z</dcterms:created>
  <dcterms:modified xsi:type="dcterms:W3CDTF">2026-10-21T06:02:40Z</dcterms:modified>
</cp:coreProperties>
</file>